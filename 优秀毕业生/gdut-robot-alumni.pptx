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id="2147483649" r:id="rId22"/>
  </p:notesMaster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本片聚焦广工机器人方向（粤港机器人联合学院 2+2 跨学科培养、自动化学院机器人工程专业）的公开案例。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机器人方向不是单一专业，而是多专业交叉培养；学生保留主体专业，共同方向是机器人。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数据来自《中国教育报》2024 年 10 月 7 日与《香港文汇报》2019 年 4 月 8 日报道。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名单按公开报道出现顺序排列；届别以报道口径为准。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黄伟杰，2019届，机械设计制造及其自动化（机器人方向）。资料来自《香港文汇报》2019-04-08 与《南方都市报》2018-12-18。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梁杰舜，2019届，机械工程（机器人方向）。资料来自《香港文汇报》2019-04-08 与《南方都市报》2018-12-18。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郑锦航，2019届（同批），机器人学院。资料来自《香港文汇报》2019-04-08 与《南方都市报》2018-12-18。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梁旭强，2019届，信息与计算科学（机器人方向）。资料来自《香港文汇报》2019-04-08 与《南方都市报》2018-12-18。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梁丽怡，2019届，工业设计（机器人方向）。资料来自《香港文汇报》2019-04-08 与《南方都市报》2018-12-18。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林梓聪，2019届，自动化（机器人方向）。资料来自《香港文汇报》2019-04-08 与《南方都市报》2018-12-18。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两支队伍都出自 2019 届首批学生，产品方向不同，融资进度各异。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黄裕超，2022届。资料来自《中国教育报》2024-10-07。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黄泽凯，2024届。资料来自《中国教育报》2024-10-07。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陈栩生，信息工程（机器人方向）。资料来自《中国教育报》2024-10-07。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庄栢杨，机器人学院（医疗机器人方向）。资料来自《中国教育报》2024-10-07。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学院公开口径：不少毕业生在百度、字节跳动、大疆等知名企业就业；首届 10 人明确创业项目。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zh-CN" sz="1200" dirty="0"/>
              <a:t>如需补充个人照片，可提供毕业照或证件照后替换人物卡。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342900" indent="-342900">
        <a:defRPr sz="2000">
          <a:solidFill>
            <a:srgbClr val="E8F1FF"/>
          </a:solidFill>
          <a:latin typeface="Segoe UI"/>
          <a:ea typeface="Microsoft YaHei"/>
        </a:defRPr>
      </a:lvl1pPr>
      <a:lvl2pPr marL="685800" indent="-342900">
        <a:defRPr sz="1900">
          <a:solidFill>
            <a:srgbClr val="E8F1FF"/>
          </a:solidFill>
          <a:latin typeface="Segoe UI"/>
          <a:ea typeface="Microsoft YaHei"/>
        </a:defRPr>
      </a:lvl2pPr>
      <a:lvl3pPr marL="1028700" indent="-342900">
        <a:defRPr sz="1800">
          <a:solidFill>
            <a:srgbClr val="E8F1FF"/>
          </a:solidFill>
          <a:latin typeface="Segoe UI"/>
          <a:ea typeface="Microsoft YaHei"/>
        </a:defRPr>
      </a:lvl3pPr>
      <a:lvl4pPr marL="1371600" indent="-342900">
        <a:defRPr sz="1700">
          <a:solidFill>
            <a:srgbClr val="E8F1FF"/>
          </a:solidFill>
          <a:latin typeface="Segoe UI"/>
          <a:ea typeface="Microsoft YaHei"/>
        </a:defRPr>
      </a:lvl4pPr>
      <a:lvl5pPr marL="1714500" indent="-342900">
        <a:defRPr sz="1600">
          <a:solidFill>
            <a:srgbClr val="E8F1FF"/>
          </a:solidFill>
          <a:latin typeface="Segoe UI"/>
          <a:ea typeface="Microsoft YaHei"/>
        </a:defRPr>
      </a:lvl5pPr>
      <a:lvl6pPr marL="2057400" indent="-342900">
        <a:defRPr sz="1500">
          <a:solidFill>
            <a:srgbClr val="E8F1FF"/>
          </a:solidFill>
          <a:latin typeface="Segoe UI"/>
          <a:ea typeface="Microsoft YaHei"/>
        </a:defRPr>
      </a:lvl6pPr>
      <a:lvl7pPr marL="2400300" indent="-342900">
        <a:defRPr sz="1400">
          <a:solidFill>
            <a:srgbClr val="E8F1FF"/>
          </a:solidFill>
          <a:latin typeface="Segoe UI"/>
          <a:ea typeface="Microsoft YaHei"/>
        </a:defRPr>
      </a:lvl7pPr>
      <a:lvl8pPr marL="2743200" indent="-342900">
        <a:defRPr sz="1300">
          <a:solidFill>
            <a:srgbClr val="E8F1FF"/>
          </a:solidFill>
          <a:latin typeface="Segoe UI"/>
          <a:ea typeface="Microsoft YaHei"/>
        </a:defRPr>
      </a:lvl8pPr>
      <a:lvl9pPr marL="3086100" indent="-342900">
        <a:defRPr sz="1200">
          <a:solidFill>
            <a:srgbClr val="E8F1FF"/>
          </a:solidFill>
          <a:latin typeface="Segoe UI"/>
          <a:ea typeface="Microsoft YaHei"/>
        </a:defRPr>
      </a:lvl9pPr>
    </p:titleStyle>
    <p:bodyStyle>
      <a:lvl1pPr marL="342900" indent="-342900">
        <a:defRPr sz="2000">
          <a:solidFill>
            <a:srgbClr val="E8F1FF"/>
          </a:solidFill>
          <a:latin typeface="Segoe UI"/>
          <a:ea typeface="Microsoft YaHei"/>
        </a:defRPr>
      </a:lvl1pPr>
      <a:lvl2pPr marL="685800" indent="-342900">
        <a:defRPr sz="1900">
          <a:solidFill>
            <a:srgbClr val="E8F1FF"/>
          </a:solidFill>
          <a:latin typeface="Segoe UI"/>
          <a:ea typeface="Microsoft YaHei"/>
        </a:defRPr>
      </a:lvl2pPr>
      <a:lvl3pPr marL="1028700" indent="-342900">
        <a:defRPr sz="1800">
          <a:solidFill>
            <a:srgbClr val="E8F1FF"/>
          </a:solidFill>
          <a:latin typeface="Segoe UI"/>
          <a:ea typeface="Microsoft YaHei"/>
        </a:defRPr>
      </a:lvl3pPr>
      <a:lvl4pPr marL="1371600" indent="-342900">
        <a:defRPr sz="1700">
          <a:solidFill>
            <a:srgbClr val="E8F1FF"/>
          </a:solidFill>
          <a:latin typeface="Segoe UI"/>
          <a:ea typeface="Microsoft YaHei"/>
        </a:defRPr>
      </a:lvl4pPr>
      <a:lvl5pPr marL="1714500" indent="-342900">
        <a:defRPr sz="1600">
          <a:solidFill>
            <a:srgbClr val="E8F1FF"/>
          </a:solidFill>
          <a:latin typeface="Segoe UI"/>
          <a:ea typeface="Microsoft YaHei"/>
        </a:defRPr>
      </a:lvl5pPr>
      <a:lvl6pPr marL="2057400" indent="-342900">
        <a:defRPr sz="1500">
          <a:solidFill>
            <a:srgbClr val="E8F1FF"/>
          </a:solidFill>
          <a:latin typeface="Segoe UI"/>
          <a:ea typeface="Microsoft YaHei"/>
        </a:defRPr>
      </a:lvl6pPr>
      <a:lvl7pPr marL="2400300" indent="-342900">
        <a:defRPr sz="1400">
          <a:solidFill>
            <a:srgbClr val="E8F1FF"/>
          </a:solidFill>
          <a:latin typeface="Segoe UI"/>
          <a:ea typeface="Microsoft YaHei"/>
        </a:defRPr>
      </a:lvl7pPr>
      <a:lvl8pPr marL="2743200" indent="-342900">
        <a:defRPr sz="1300">
          <a:solidFill>
            <a:srgbClr val="E8F1FF"/>
          </a:solidFill>
          <a:latin typeface="Segoe UI"/>
          <a:ea typeface="Microsoft YaHei"/>
        </a:defRPr>
      </a:lvl8pPr>
      <a:lvl9pPr marL="3086100" indent="-342900">
        <a:defRPr sz="1200">
          <a:solidFill>
            <a:srgbClr val="E8F1FF"/>
          </a:solidFill>
          <a:latin typeface="Segoe UI"/>
          <a:ea typeface="Microsoft YaHei"/>
        </a:defRPr>
      </a:lvl9pPr>
    </p:bodyStyle>
    <p:otherStyle>
      <a:lvl1pPr marL="342900" indent="-342900">
        <a:defRPr sz="2000">
          <a:solidFill>
            <a:srgbClr val="E8F1FF"/>
          </a:solidFill>
          <a:latin typeface="Segoe UI"/>
          <a:ea typeface="Microsoft YaHei"/>
        </a:defRPr>
      </a:lvl1pPr>
      <a:lvl2pPr marL="685800" indent="-342900">
        <a:defRPr sz="1900">
          <a:solidFill>
            <a:srgbClr val="E8F1FF"/>
          </a:solidFill>
          <a:latin typeface="Segoe UI"/>
          <a:ea typeface="Microsoft YaHei"/>
        </a:defRPr>
      </a:lvl2pPr>
      <a:lvl3pPr marL="1028700" indent="-342900">
        <a:defRPr sz="1800">
          <a:solidFill>
            <a:srgbClr val="E8F1FF"/>
          </a:solidFill>
          <a:latin typeface="Segoe UI"/>
          <a:ea typeface="Microsoft YaHei"/>
        </a:defRPr>
      </a:lvl3pPr>
      <a:lvl4pPr marL="1371600" indent="-342900">
        <a:defRPr sz="1700">
          <a:solidFill>
            <a:srgbClr val="E8F1FF"/>
          </a:solidFill>
          <a:latin typeface="Segoe UI"/>
          <a:ea typeface="Microsoft YaHei"/>
        </a:defRPr>
      </a:lvl4pPr>
      <a:lvl5pPr marL="1714500" indent="-342900">
        <a:defRPr sz="1600">
          <a:solidFill>
            <a:srgbClr val="E8F1FF"/>
          </a:solidFill>
          <a:latin typeface="Segoe UI"/>
          <a:ea typeface="Microsoft YaHei"/>
        </a:defRPr>
      </a:lvl5pPr>
      <a:lvl6pPr marL="2057400" indent="-342900">
        <a:defRPr sz="1500">
          <a:solidFill>
            <a:srgbClr val="E8F1FF"/>
          </a:solidFill>
          <a:latin typeface="Segoe UI"/>
          <a:ea typeface="Microsoft YaHei"/>
        </a:defRPr>
      </a:lvl6pPr>
      <a:lvl7pPr marL="2400300" indent="-342900">
        <a:defRPr sz="1400">
          <a:solidFill>
            <a:srgbClr val="E8F1FF"/>
          </a:solidFill>
          <a:latin typeface="Segoe UI"/>
          <a:ea typeface="Microsoft YaHei"/>
        </a:defRPr>
      </a:lvl7pPr>
      <a:lvl8pPr marL="2743200" indent="-342900">
        <a:defRPr sz="1300">
          <a:solidFill>
            <a:srgbClr val="E8F1FF"/>
          </a:solidFill>
          <a:latin typeface="Segoe UI"/>
          <a:ea typeface="Microsoft YaHei"/>
        </a:defRPr>
      </a:lvl8pPr>
      <a:lvl9pPr marL="3086100" indent="-342900">
        <a:defRPr sz="1200">
          <a:solidFill>
            <a:srgbClr val="E8F1FF"/>
          </a:solidFill>
          <a:latin typeface="Segoe UI"/>
          <a:ea typeface="Microsoft YaHei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jp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ccent bar"/>
          <p:cNvSpPr/>
          <p:nvPr/>
        </p:nvSpPr>
        <p:spPr>
          <a:xfrm>
            <a:off x="914400" y="2250000"/>
            <a:ext cx="240000" cy="1600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/>
        </p:txBody>
      </p:sp>
      <p:sp>
        <p:nvSpPr>
          <p:cNvPr id="12" name="Title"/>
          <p:cNvSpPr txBox="1"/>
          <p:nvPr/>
        </p:nvSpPr>
        <p:spPr>
          <a:xfrm>
            <a:off x="1550000" y="2160000"/>
            <a:ext cx="9250000" cy="1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4400" b="1" dirty="0">
                <a:solidFill>
                  <a:srgbClr val="E8F1FF"/>
                </a:solidFill>
                <a:latin typeface="Segoe UI"/>
                <a:ea typeface="Microsoft YaHei"/>
              </a:rPr>
              <a:t>机器人专业优秀毕业生</a:t>
            </a:r>
          </a:p>
        </p:txBody>
      </p:sp>
      <p:sp>
        <p:nvSpPr>
          <p:cNvPr id="13" name="Subtitle"/>
          <p:cNvSpPr txBox="1"/>
          <p:nvPr/>
        </p:nvSpPr>
        <p:spPr>
          <a:xfrm>
            <a:off x="1570000" y="4150000"/>
            <a:ext cx="9000000" cy="12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2200" b="0" dirty="0">
                <a:solidFill>
                  <a:srgbClr val="7E8BA8"/>
                </a:solidFill>
                <a:latin typeface="Segoe UI"/>
                <a:ea typeface="Microsoft YaHei"/>
              </a:rPr>
              <a:t>粤港机器人联合学院与机器人工程：10 位毕业生与学子的去向</a:t>
            </a:r>
          </a:p>
        </p:txBody>
      </p:sp>
      <p:sp>
        <p:nvSpPr>
          <p:cNvPr id="14" name="Kicker"/>
          <p:cNvSpPr txBox="1"/>
          <p:nvPr/>
        </p:nvSpPr>
        <p:spPr>
          <a:xfrm>
            <a:off x="1570000" y="5800000"/>
            <a:ext cx="7000000" cy="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7C3AED"/>
                </a:solidFill>
                <a:latin typeface="Segoe UI"/>
                <a:ea typeface="Microsoft YaHei"/>
              </a:rPr>
              <a:t>广东工业大学 · 机器人专业 · 2026.10</a:t>
            </a:r>
          </a:p>
        </p:txBody>
      </p:sp>
      <p:sp>
        <p:nvSpPr>
          <p:cNvPr id="1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01 / 20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7C3AED"/>
                </a:solidFill>
                <a:latin typeface="Segoe UI"/>
                <a:ea typeface="Microsoft YaHei"/>
              </a:rPr>
              <a:t>专业概况</a:t>
            </a:r>
          </a:p>
        </p:txBody>
      </p:sp>
      <p:sp>
        <p:nvSpPr>
          <p:cNvPr id="2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一个专业，七种出身</a:t>
            </a:r>
          </a:p>
        </p:txBody>
      </p:sp>
      <p:sp>
        <p:nvSpPr>
          <p:cNvPr id="2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2015 年联合港科大李泽湘团队创办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每年从大一招 60—80 人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生源来自 6 个学院、7 个专业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2+2 学制：前两年在原专业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课程 65% 本专业 + 35% 跨学科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大三大四常驻松山湖机器人基地</a:t>
            </a:r>
          </a:p>
        </p:txBody>
      </p:sp>
      <p:sp>
        <p:nvSpPr>
          <p:cNvPr id="2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02 / 20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7C3AED"/>
                </a:solidFill>
                <a:latin typeface="Segoe UI"/>
                <a:ea typeface="Microsoft YaHei"/>
              </a:rPr>
              <a:t>培养成果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到 2024 年，已走出 213 名毕业生</a:t>
            </a:r>
          </a:p>
        </p:txBody>
      </p:sp>
      <p:graphicFrame>
        <p:nvGraphicFramePr>
          <p:cNvPr id="33" name="Table"/>
          <p:cNvGraphicFramePr>
            <a:graphicFrameLocks noGrp="1"/>
          </p:cNvGraphicFramePr>
          <p:nvPr/>
        </p:nvGraphicFramePr>
        <p:xfrm>
          <a:off x="900000" y="1950000"/>
          <a:ext cx="10300000" cy="3360000"/>
        </p:xfrm>
        <a:graphic>
          <a:graphicData uri="http://schemas.openxmlformats.org/drawingml/2006/table">
            <a:tbl>
              <a:tblPr firstRow="1" bandRow="1"/>
              <a:tblGrid>
                <a:gridCol w="3433333"/>
                <a:gridCol w="3433333"/>
                <a:gridCol w="3433333"/>
              </a:tblGrid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070B14"/>
                          </a:solidFill>
                          <a:latin typeface="Segoe UI"/>
                          <a:ea typeface="Microsoft YaHei"/>
                        </a:rPr>
                        <a:t>指标</a:t>
                      </a:r>
                    </a:p>
                  </a:txBody>
                  <a:tcPr marL="91440" marR="91440" anchor="ctr">
                    <a:solidFill>
                      <a:srgbClr val="7C3AE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070B14"/>
                          </a:solidFill>
                          <a:latin typeface="Segoe UI"/>
                          <a:ea typeface="Microsoft YaHei"/>
                        </a:rPr>
                        <a:t>数据</a:t>
                      </a:r>
                    </a:p>
                  </a:txBody>
                  <a:tcPr marL="91440" marR="91440" anchor="ctr">
                    <a:solidFill>
                      <a:srgbClr val="7C3AE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070B14"/>
                          </a:solidFill>
                          <a:latin typeface="Segoe UI"/>
                          <a:ea typeface="Microsoft YaHei"/>
                        </a:rPr>
                        <a:t>口径</a:t>
                      </a:r>
                    </a:p>
                  </a:txBody>
                  <a:tcPr marL="91440" marR="91440" anchor="ctr">
                    <a:solidFill>
                      <a:srgbClr val="7C3AED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毕业生总数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213 人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截至 2024 年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升学读研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40%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境内外合计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就业创业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60%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含自主创业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首届毕业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60 人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2019 届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首届升学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23 人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保研与出境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首届创业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10 人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明确创业项目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本科月薪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1.34 万元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平均值，年增超 10%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</a:tr>
            </a:tbl>
          </a:graphicData>
        </a:graphic>
      </p:graphicFrame>
      <p:sp>
        <p:nvSpPr>
          <p:cNvPr id="3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03 / 20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7C3AED"/>
                </a:solidFill>
                <a:latin typeface="Segoe UI"/>
                <a:ea typeface="Microsoft YaHei"/>
              </a:rPr>
              <a:t>名单</a:t>
            </a:r>
          </a:p>
        </p:txBody>
      </p:sp>
      <p:sp>
        <p:nvSpPr>
          <p:cNvPr id="4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8 位毕业生代表：进产业、做研发、去创业</a:t>
            </a:r>
          </a:p>
        </p:txBody>
      </p:sp>
      <p:graphicFrame>
        <p:nvGraphicFramePr>
          <p:cNvPr id="43" name="Table"/>
          <p:cNvGraphicFramePr>
            <a:graphicFrameLocks noGrp="1"/>
          </p:cNvGraphicFramePr>
          <p:nvPr/>
        </p:nvGraphicFramePr>
        <p:xfrm>
          <a:off x="900000" y="1950000"/>
          <a:ext cx="10300000" cy="3780000"/>
        </p:xfrm>
        <a:graphic>
          <a:graphicData uri="http://schemas.openxmlformats.org/drawingml/2006/table">
            <a:tbl>
              <a:tblPr firstRow="1" bandRow="1"/>
              <a:tblGrid>
                <a:gridCol w="2575000"/>
                <a:gridCol w="2575000"/>
                <a:gridCol w="2575000"/>
                <a:gridCol w="2575000"/>
              </a:tblGrid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070B14"/>
                          </a:solidFill>
                          <a:latin typeface="Segoe UI"/>
                          <a:ea typeface="Microsoft YaHei"/>
                        </a:rPr>
                        <a:t>姓名</a:t>
                      </a:r>
                    </a:p>
                  </a:txBody>
                  <a:tcPr marL="91440" marR="91440" anchor="ctr">
                    <a:solidFill>
                      <a:srgbClr val="7C3AE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070B14"/>
                          </a:solidFill>
                          <a:latin typeface="Segoe UI"/>
                          <a:ea typeface="Microsoft YaHei"/>
                        </a:rPr>
                        <a:t>届别</a:t>
                      </a:r>
                    </a:p>
                  </a:txBody>
                  <a:tcPr marL="91440" marR="91440" anchor="ctr">
                    <a:solidFill>
                      <a:srgbClr val="7C3AE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070B14"/>
                          </a:solidFill>
                          <a:latin typeface="Segoe UI"/>
                          <a:ea typeface="Microsoft YaHei"/>
                        </a:rPr>
                        <a:t>专业方向</a:t>
                      </a:r>
                    </a:p>
                  </a:txBody>
                  <a:tcPr marL="91440" marR="91440" anchor="ctr">
                    <a:solidFill>
                      <a:srgbClr val="7C3AE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1" dirty="0">
                          <a:solidFill>
                            <a:srgbClr val="070B14"/>
                          </a:solidFill>
                          <a:latin typeface="Segoe UI"/>
                          <a:ea typeface="Microsoft YaHei"/>
                        </a:rPr>
                        <a:t>去向 / 成果</a:t>
                      </a:r>
                    </a:p>
                  </a:txBody>
                  <a:tcPr marL="91440" marR="91440" anchor="ctr">
                    <a:solidFill>
                      <a:srgbClr val="7C3AED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黄伟杰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2019届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机械（机器人方向）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网球回收机器人·15万孵化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梁杰舜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2019届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机械工程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高尔夫回收机器人·创业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郑锦航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2019届同批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机器人学院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高尔夫回收机器人·联合发起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梁旭强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2019届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信息与计算科学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AI 企业·项目与产品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梁丽怡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2019届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工业设计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米兰理工大学深造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林梓聪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2019届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自动化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机器人基地项目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黄裕超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2022届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跨学科培养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大疆·智能驾驶硬件</a:t>
                      </a:r>
                    </a:p>
                  </a:txBody>
                  <a:tcPr marL="91440" marR="91440" anchor="ctr">
                    <a:solidFill>
                      <a:srgbClr val="0D1424"/>
                    </a:solidFill>
                  </a:tcPr>
                </a:tc>
              </a:tr>
              <a:tr h="42000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黄泽凯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2024届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机械方向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lang="zh-CN" sz="1700" b="0" dirty="0">
                          <a:solidFill>
                            <a:srgbClr val="E8F1FF"/>
                          </a:solidFill>
                          <a:latin typeface="Segoe UI"/>
                          <a:ea typeface="Microsoft YaHei"/>
                        </a:rPr>
                        <a:t>拓竹科技·3D 打印</a:t>
                      </a:r>
                    </a:p>
                  </a:txBody>
                  <a:tcPr marL="91440" marR="91440" anchor="ctr">
                    <a:noFill/>
                  </a:tcPr>
                </a:tc>
              </a:tr>
            </a:tbl>
          </a:graphicData>
        </a:graphic>
      </p:graphicFrame>
      <p:sp>
        <p:nvSpPr>
          <p:cNvPr id="4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04 / 20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Kicker"/>
          <p:cNvSpPr txBox="1"/>
          <p:nvPr/>
        </p:nvSpPr>
        <p:spPr>
          <a:xfrm>
            <a:off x="1050000" y="2250000"/>
            <a:ext cx="9000000" cy="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600" b="1" dirty="0">
                <a:solidFill>
                  <a:srgbClr val="7C3AED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52" name="Accent bar"/>
          <p:cNvSpPr/>
          <p:nvPr/>
        </p:nvSpPr>
        <p:spPr>
          <a:xfrm>
            <a:off x="1050000" y="2850000"/>
            <a:ext cx="1600000" cy="160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/>
        </p:txBody>
      </p:sp>
      <p:sp>
        <p:nvSpPr>
          <p:cNvPr id="53" name="Title"/>
          <p:cNvSpPr txBox="1"/>
          <p:nvPr/>
        </p:nvSpPr>
        <p:spPr>
          <a:xfrm>
            <a:off x="1050000" y="3150000"/>
            <a:ext cx="10200000" cy="1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4000" b="1" dirty="0">
                <a:solidFill>
                  <a:srgbClr val="E8F1FF"/>
                </a:solidFill>
                <a:latin typeface="Segoe UI"/>
                <a:ea typeface="Microsoft YaHei"/>
              </a:rPr>
              <a:t>首批毕业生：2019 届的 60 个人</a:t>
            </a:r>
          </a:p>
        </p:txBody>
      </p:sp>
      <p:sp>
        <p:nvSpPr>
          <p:cNvPr id="5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05 / 20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黄伟杰：网球回收机器人迭代了三代</a:t>
            </a:r>
          </a:p>
        </p:txBody>
      </p:sp>
      <p:sp>
        <p:nvSpPr>
          <p:cNvPr id="6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机器人学院首批 60 名毕业生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负责网球回收机器人项目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团队涵盖机械、电控、视觉、设计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获松山湖基地 15 万元孵化资金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走完调研—研发—样机—孵化全流程</a:t>
            </a:r>
          </a:p>
        </p:txBody>
      </p:sp>
      <p:sp>
        <p:nvSpPr>
          <p:cNvPr id="6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人物卡（公开渠道无单人肖像）</a:t>
            </a:r>
          </a:p>
        </p:txBody>
      </p:sp>
      <p:sp>
        <p:nvSpPr>
          <p:cNvPr id="6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06 / 20</a:t>
            </a:r>
          </a:p>
        </p:txBody>
      </p:sp>
      <p:pic>
        <p:nvPicPr>
          <p:cNvPr id="70" name="Slide image" descr="黄伟杰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梁杰舜：把高尔夫回收机器人做成创业</a:t>
            </a:r>
          </a:p>
        </p:txBody>
      </p:sp>
      <p:sp>
        <p:nvSpPr>
          <p:cNvPr id="7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首批毕业生，机械工程专业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与郑锦航搭档试水创业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项目：高尔夫球回收机器人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2018 年底进入第二轮研发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拿到第一笔孵化资金</a:t>
            </a:r>
          </a:p>
        </p:txBody>
      </p:sp>
      <p:sp>
        <p:nvSpPr>
          <p:cNvPr id="7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人物卡（公开渠道无单人肖像）</a:t>
            </a:r>
          </a:p>
        </p:txBody>
      </p:sp>
      <p:sp>
        <p:nvSpPr>
          <p:cNvPr id="7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07 / 20</a:t>
            </a:r>
          </a:p>
        </p:txBody>
      </p:sp>
      <p:pic>
        <p:nvPicPr>
          <p:cNvPr id="80" name="Slide image" descr="梁杰舜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郑锦航：和搭档一起把项目推上路</a:t>
            </a:r>
          </a:p>
        </p:txBody>
      </p:sp>
      <p:sp>
        <p:nvSpPr>
          <p:cNvPr id="8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与梁杰舜共同发起项目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共同完成 3 个月市场考察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覆盖高尔夫、网球、农业场景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产品聚焦高尔夫球回收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学生团队自主创业样本</a:t>
            </a:r>
          </a:p>
        </p:txBody>
      </p:sp>
      <p:sp>
        <p:nvSpPr>
          <p:cNvPr id="8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人物卡（公开渠道无单人肖像）</a:t>
            </a:r>
          </a:p>
        </p:txBody>
      </p:sp>
      <p:sp>
        <p:nvSpPr>
          <p:cNvPr id="8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08 / 20</a:t>
            </a:r>
          </a:p>
        </p:txBody>
      </p:sp>
      <p:pic>
        <p:nvPicPr>
          <p:cNvPr id="90" name="Slide image" descr="郑锦航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梁旭强：从数学背景转向 AI 企业</a:t>
            </a:r>
          </a:p>
        </p:txBody>
      </p:sp>
      <p:sp>
        <p:nvSpPr>
          <p:cNvPr id="9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首批毕业生，信息与计算科学出身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项目覆盖市场调研与用户分析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参与产品研发、设计与工艺环节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毕业即应聘某 AI 企业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称最大收获是成体系的机器人项目经验</a:t>
            </a:r>
          </a:p>
        </p:txBody>
      </p:sp>
      <p:sp>
        <p:nvSpPr>
          <p:cNvPr id="9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人物卡（公开渠道无单人肖像）</a:t>
            </a:r>
          </a:p>
        </p:txBody>
      </p:sp>
      <p:sp>
        <p:nvSpPr>
          <p:cNvPr id="9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09 / 20</a:t>
            </a:r>
          </a:p>
        </p:txBody>
      </p:sp>
      <p:pic>
        <p:nvPicPr>
          <p:cNvPr id="100" name="Slide image" descr="梁旭强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梁丽怡：带着工程思维去米兰理工</a:t>
            </a:r>
          </a:p>
        </p:txBody>
      </p:sp>
      <p:sp>
        <p:nvSpPr>
          <p:cNvPr id="10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首批毕业生，工业设计方向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在机器人学院补上工程与制造知识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参与跨专业团队完整产品流程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获米兰理工大学录取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赴意攻读设计与工程方向</a:t>
            </a:r>
          </a:p>
        </p:txBody>
      </p:sp>
      <p:sp>
        <p:nvSpPr>
          <p:cNvPr id="10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人物卡（公开渠道无单人肖像）</a:t>
            </a:r>
          </a:p>
        </p:txBody>
      </p:sp>
      <p:sp>
        <p:nvSpPr>
          <p:cNvPr id="10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10 / 20</a:t>
            </a:r>
          </a:p>
        </p:txBody>
      </p:sp>
      <p:pic>
        <p:nvPicPr>
          <p:cNvPr id="110" name="Slide image" descr="梁丽怡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林梓聪：让想法在基地里快速验证</a:t>
            </a:r>
          </a:p>
        </p:txBody>
      </p:sp>
      <p:sp>
        <p:nvSpPr>
          <p:cNvPr id="11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首批毕业生，自动化方向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常驻松山湖国际机器人产业基地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与机械、软件、设计同学组队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企业导师与学校老师双重指导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强调“不做闭门造车”</a:t>
            </a:r>
          </a:p>
        </p:txBody>
      </p:sp>
      <p:sp>
        <p:nvSpPr>
          <p:cNvPr id="11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人物卡（公开渠道无单人肖像）</a:t>
            </a:r>
          </a:p>
        </p:txBody>
      </p:sp>
      <p:sp>
        <p:nvSpPr>
          <p:cNvPr id="11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11 / 20</a:t>
            </a:r>
          </a:p>
        </p:txBody>
      </p:sp>
      <p:pic>
        <p:nvPicPr>
          <p:cNvPr id="120" name="Slide image" descr="林梓聪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7C3AED"/>
                </a:solidFill>
                <a:latin typeface="Segoe UI"/>
                <a:ea typeface="Microsoft YaHei"/>
              </a:rPr>
              <a:t>两支队伍</a:t>
            </a:r>
          </a:p>
        </p:txBody>
      </p:sp>
      <p:sp>
        <p:nvSpPr>
          <p:cNvPr id="12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同一个学院，两个回收机器人</a:t>
            </a:r>
          </a:p>
        </p:txBody>
      </p:sp>
      <p:sp>
        <p:nvSpPr>
          <p:cNvPr id="12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网球：黄伟杰团队，五人四个专业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周键朗结构、梁太旺电控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薛泓做视觉、陈泽宇定产品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高尔夫：梁杰舜 + 郑锦航两人组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网球队获松山湖 15 万元孵化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高尔夫队拿到第一笔孵化资金</a:t>
            </a:r>
          </a:p>
        </p:txBody>
      </p:sp>
      <p:sp>
        <p:nvSpPr>
          <p:cNvPr id="12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12 / 20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Kicker"/>
          <p:cNvSpPr txBox="1"/>
          <p:nvPr/>
        </p:nvSpPr>
        <p:spPr>
          <a:xfrm>
            <a:off x="1050000" y="2250000"/>
            <a:ext cx="9000000" cy="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600" b="1" dirty="0">
                <a:solidFill>
                  <a:srgbClr val="7C3AED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132" name="Accent bar"/>
          <p:cNvSpPr/>
          <p:nvPr/>
        </p:nvSpPr>
        <p:spPr>
          <a:xfrm>
            <a:off x="1050000" y="2850000"/>
            <a:ext cx="1600000" cy="160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/>
        </p:txBody>
      </p:sp>
      <p:sp>
        <p:nvSpPr>
          <p:cNvPr id="133" name="Title"/>
          <p:cNvSpPr txBox="1"/>
          <p:nvPr/>
        </p:nvSpPr>
        <p:spPr>
          <a:xfrm>
            <a:off x="1050000" y="3150000"/>
            <a:ext cx="10200000" cy="1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4000" b="1" dirty="0">
                <a:solidFill>
                  <a:srgbClr val="E8F1FF"/>
                </a:solidFill>
                <a:latin typeface="Segoe UI"/>
                <a:ea typeface="Microsoft YaHei"/>
              </a:rPr>
              <a:t>产业一线：2022—2024 届</a:t>
            </a:r>
          </a:p>
        </p:txBody>
      </p:sp>
      <p:sp>
        <p:nvSpPr>
          <p:cNvPr id="13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13 / 20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黄裕超：十多个 offer 里选了大疆</a:t>
            </a:r>
          </a:p>
        </p:txBody>
      </p:sp>
      <p:sp>
        <p:nvSpPr>
          <p:cNvPr id="14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2022 年 6 月毕业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从十余个录用通知中选择大疆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独立负责智能驾驶控制器硬件开发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骨干参与仰望 U8 车载无人机硬件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称跨学科经历支撑跨部门协作</a:t>
            </a:r>
          </a:p>
        </p:txBody>
      </p:sp>
      <p:sp>
        <p:nvSpPr>
          <p:cNvPr id="14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人物卡（公开渠道无单人肖像）</a:t>
            </a:r>
          </a:p>
        </p:txBody>
      </p:sp>
      <p:sp>
        <p:nvSpPr>
          <p:cNvPr id="14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14 / 20</a:t>
            </a:r>
          </a:p>
        </p:txBody>
      </p:sp>
      <p:pic>
        <p:nvPicPr>
          <p:cNvPr id="150" name="Slide image" descr="黄裕超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黄泽凯：3D 打印零件已规模量产</a:t>
            </a:r>
          </a:p>
        </p:txBody>
      </p:sp>
      <p:sp>
        <p:nvSpPr>
          <p:cNvPr id="15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2024 届机械方向毕业生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在校参加 ROBOCON 与暑期特训营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入职深圳拓竹科技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负责设计的 3D 打印机零件量产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从竞赛队走向产品一线</a:t>
            </a:r>
          </a:p>
        </p:txBody>
      </p:sp>
      <p:sp>
        <p:nvSpPr>
          <p:cNvPr id="15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人物卡（公开渠道无单人肖像）</a:t>
            </a:r>
          </a:p>
        </p:txBody>
      </p:sp>
      <p:sp>
        <p:nvSpPr>
          <p:cNvPr id="15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15 / 20</a:t>
            </a:r>
          </a:p>
        </p:txBody>
      </p:sp>
      <p:pic>
        <p:nvPicPr>
          <p:cNvPr id="160" name="Slide image" descr="黄泽凯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Kicker"/>
          <p:cNvSpPr txBox="1"/>
          <p:nvPr/>
        </p:nvSpPr>
        <p:spPr>
          <a:xfrm>
            <a:off x="1050000" y="2250000"/>
            <a:ext cx="9000000" cy="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600" b="1" dirty="0">
                <a:solidFill>
                  <a:srgbClr val="7C3AED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162" name="Accent bar"/>
          <p:cNvSpPr/>
          <p:nvPr/>
        </p:nvSpPr>
        <p:spPr>
          <a:xfrm>
            <a:off x="1050000" y="2850000"/>
            <a:ext cx="1600000" cy="160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/>
        </p:txBody>
      </p:sp>
      <p:sp>
        <p:nvSpPr>
          <p:cNvPr id="163" name="Title"/>
          <p:cNvSpPr txBox="1"/>
          <p:nvPr/>
        </p:nvSpPr>
        <p:spPr>
          <a:xfrm>
            <a:off x="1050000" y="3150000"/>
            <a:ext cx="10200000" cy="1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4000" b="1" dirty="0">
                <a:solidFill>
                  <a:srgbClr val="E8F1FF"/>
                </a:solidFill>
                <a:latin typeface="Segoe UI"/>
                <a:ea typeface="Microsoft YaHei"/>
              </a:rPr>
              <a:t>在研与在创：还没毕业的样本</a:t>
            </a:r>
          </a:p>
        </p:txBody>
      </p:sp>
      <p:sp>
        <p:nvSpPr>
          <p:cNvPr id="16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16 / 20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陈栩生：无人机里的供电与驱动模块</a:t>
            </a:r>
          </a:p>
        </p:txBody>
      </p:sp>
      <p:sp>
        <p:nvSpPr>
          <p:cNvPr id="17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大一大二在原专业打基础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大三大四转入机器人学院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无人机研发课程负责供电与驱动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与自动化同学分工控制算法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跨专业协作完成整机调试</a:t>
            </a:r>
          </a:p>
        </p:txBody>
      </p:sp>
      <p:sp>
        <p:nvSpPr>
          <p:cNvPr id="17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人物卡（公开渠道无单人肖像）</a:t>
            </a:r>
          </a:p>
        </p:txBody>
      </p:sp>
      <p:sp>
        <p:nvSpPr>
          <p:cNvPr id="17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17 / 20</a:t>
            </a:r>
          </a:p>
        </p:txBody>
      </p:sp>
      <p:pic>
        <p:nvPicPr>
          <p:cNvPr id="180" name="Slide image" descr="陈栩生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itle"/>
          <p:cNvSpPr txBox="1"/>
          <p:nvPr/>
        </p:nvSpPr>
        <p:spPr>
          <a:xfrm>
            <a:off x="777240" y="585216"/>
            <a:ext cx="10607040" cy="7772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庄栢杨：把机器人做进临床一线</a:t>
            </a:r>
          </a:p>
        </p:txBody>
      </p:sp>
      <p:sp>
        <p:nvSpPr>
          <p:cNvPr id="183" name="Body"/>
          <p:cNvSpPr txBox="1"/>
          <p:nvPr/>
        </p:nvSpPr>
        <p:spPr>
          <a:xfrm>
            <a:off x="6291072" y="1691640"/>
            <a:ext cx="5120640" cy="425196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聚焦医疗机器人方向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参与腰椎穿刺辅助设备研发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参与智能肿瘤识别仪研发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以企业真实难题作为项目课题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目标是把技术送进临床</a:t>
            </a:r>
          </a:p>
        </p:txBody>
      </p:sp>
      <p:sp>
        <p:nvSpPr>
          <p:cNvPr id="184" name="Caption"/>
          <p:cNvSpPr txBox="1"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0" dirty="0">
                <a:solidFill>
                  <a:srgbClr val="7E8BA8"/>
                </a:solidFill>
                <a:latin typeface="Segoe UI"/>
                <a:ea typeface="Microsoft YaHei"/>
              </a:rPr>
              <a:t>人物卡（公开渠道无单人肖像）</a:t>
            </a:r>
          </a:p>
        </p:txBody>
      </p:sp>
      <p:sp>
        <p:nvSpPr>
          <p:cNvPr id="18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18 / 20</a:t>
            </a:r>
          </a:p>
        </p:txBody>
      </p:sp>
      <p:pic>
        <p:nvPicPr>
          <p:cNvPr id="190" name="Slide image" descr="庄栢杨"/>
          <p:cNvPicPr>
            <a:picLocks noChangeAspect="1"/>
          </p:cNvPicPr>
          <p:nvPr/>
        </p:nvPicPr>
        <p:blipFill>
          <a:blip r:embed="rId3"/>
          <a:srcRect l="3230" r="3230"/>
          <a:stretch>
            <a:fillRect/>
          </a:stretch>
        </p:blipFill>
        <p:spPr>
          <a:xfrm>
            <a:off x="777240" y="1691640"/>
            <a:ext cx="5074920" cy="4069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Kicker"/>
          <p:cNvSpPr txBox="1"/>
          <p:nvPr/>
        </p:nvSpPr>
        <p:spPr>
          <a:xfrm>
            <a:off x="900000" y="420000"/>
            <a:ext cx="10000000" cy="42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1400" b="1" dirty="0">
                <a:solidFill>
                  <a:srgbClr val="7C3AED"/>
                </a:solidFill>
                <a:latin typeface="Segoe UI"/>
                <a:ea typeface="Microsoft YaHei"/>
              </a:rPr>
              <a:t>去向</a:t>
            </a:r>
          </a:p>
        </p:txBody>
      </p:sp>
      <p:sp>
        <p:nvSpPr>
          <p:cNvPr id="192" name="Title"/>
          <p:cNvSpPr txBox="1"/>
          <p:nvPr/>
        </p:nvSpPr>
        <p:spPr>
          <a:xfrm>
            <a:off x="900000" y="920000"/>
            <a:ext cx="10300000" cy="8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>
              <a:buNone/>
            </a:pPr>
            <a:r>
              <a:rPr lang="zh-CN" sz="3400" b="1" dirty="0">
                <a:solidFill>
                  <a:srgbClr val="E8F1FF"/>
                </a:solidFill>
                <a:latin typeface="Segoe UI"/>
                <a:ea typeface="Microsoft YaHei"/>
              </a:rPr>
              <a:t>他们去了哪里</a:t>
            </a:r>
          </a:p>
        </p:txBody>
      </p:sp>
      <p:sp>
        <p:nvSpPr>
          <p:cNvPr id="193" name="Body"/>
          <p:cNvSpPr txBox="1"/>
          <p:nvPr/>
        </p:nvSpPr>
        <p:spPr>
          <a:xfrm>
            <a:off x="1050000" y="1850000"/>
            <a:ext cx="10100000" cy="45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大疆：黄裕超，智能驾驶与车载无人机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拓竹科技：黄泽凯，3D 打印结构件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米兰理工大学：梁丽怡，设计与工程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AI 企业：梁旭强，项目与产品岗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松山湖基地：黄伟杰、梁杰舜，机器人创业</a:t>
            </a:r>
          </a:p>
          <a:p>
            <a:pPr marL="285750" indent="-285750">
              <a:spcAft>
                <a:spcPts val="600"/>
              </a:spcAft>
              <a:buFont typeface="Arial" panose="020B0604020202020204"/>
              <a:buChar char="•"/>
            </a:pPr>
            <a:r>
              <a:rPr lang="zh-CN" sz="2000" b="0" dirty="0">
                <a:solidFill>
                  <a:srgbClr val="E8F1FF"/>
                </a:solidFill>
                <a:latin typeface="Segoe UI"/>
                <a:ea typeface="Microsoft YaHei"/>
              </a:rPr>
              <a:t>更多：百度、字节跳动等头部企业</a:t>
            </a:r>
          </a:p>
        </p:txBody>
      </p:sp>
      <p:sp>
        <p:nvSpPr>
          <p:cNvPr id="19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19 / 20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"/>
          <p:cNvSpPr txBox="1"/>
          <p:nvPr/>
        </p:nvSpPr>
        <p:spPr>
          <a:xfrm>
            <a:off x="1050000" y="2300000"/>
            <a:ext cx="10200000" cy="17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zh-CN" sz="5200" b="1" dirty="0">
                <a:solidFill>
                  <a:srgbClr val="E8F1FF"/>
                </a:solidFill>
                <a:latin typeface="Segoe UI"/>
                <a:ea typeface="Microsoft YaHei"/>
              </a:rPr>
              <a:t>机器人专业拼的不是单一技能，是跨专业协作</a:t>
            </a:r>
          </a:p>
        </p:txBody>
      </p:sp>
      <p:sp>
        <p:nvSpPr>
          <p:cNvPr id="202" name="Subtitle"/>
          <p:cNvSpPr txBox="1"/>
          <p:nvPr/>
        </p:nvSpPr>
        <p:spPr>
          <a:xfrm>
            <a:off x="1050000" y="4200000"/>
            <a:ext cx="10200000" cy="9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ctr">
              <a:buNone/>
            </a:pPr>
            <a:r>
              <a:rPr lang="zh-CN" sz="2000" b="1" dirty="0">
                <a:solidFill>
                  <a:srgbClr val="7C3AED"/>
                </a:solidFill>
                <a:latin typeface="Segoe UI"/>
                <a:ea typeface="Microsoft YaHei"/>
              </a:rPr>
              <a:t>资料：中国教育报 2024-10-07、香港文汇报 2019-04-08、南方都市报 2018-12-18｜2026.10</a:t>
            </a:r>
          </a:p>
        </p:txBody>
      </p:sp>
      <p:sp>
        <p:nvSpPr>
          <p:cNvPr id="209" name="Page number"/>
          <p:cNvSpPr txBox="1"/>
          <p:nvPr/>
        </p:nvSpPr>
        <p:spPr>
          <a:xfrm>
            <a:off x="10600000" y="6250000"/>
            <a:ext cx="1200000" cy="40000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/>
          <a:p>
            <a:pPr algn="r">
              <a:buNone/>
            </a:pPr>
            <a:r>
              <a:rPr lang="zh-CN" sz="1000" b="0" dirty="0">
                <a:solidFill>
                  <a:srgbClr val="7E8BA8"/>
                </a:solidFill>
                <a:latin typeface="Segoe UI"/>
                <a:ea typeface="Microsoft YaHei"/>
              </a:rPr>
              <a:t>20 / 20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>
</file>

<file path=ppt/theme/theme1.xml><?xml version="1.0" encoding="utf-8"?>
<a:theme xmlns:a="http://schemas.openxmlformats.org/drawingml/2006/main" name="dsh-ppt Data Drift">
  <a:themeElements>
    <a:clrScheme name="dsh-ppt">
      <a:dk1>
        <a:srgbClr val="E8F1FF"/>
      </a:dk1>
      <a:lt1>
        <a:srgbClr val="070B14"/>
      </a:lt1>
      <a:dk2>
        <a:srgbClr val="7E8BA8"/>
      </a:dk2>
      <a:lt2>
        <a:srgbClr val="0D1424"/>
      </a:lt2>
      <a:accent1>
        <a:srgbClr val="7C3AED"/>
      </a:accent1>
      <a:accent2>
        <a:srgbClr val="06B6D4"/>
      </a:accent2>
      <a:accent3>
        <a:srgbClr val="E8F1FF"/>
      </a:accent3>
      <a:accent4>
        <a:srgbClr val="7E8BA8"/>
      </a:accent4>
      <a:accent5>
        <a:srgbClr val="7C3AED"/>
      </a:accent5>
      <a:accent6>
        <a:srgbClr val="06B6D4"/>
      </a:accent6>
      <a:hlink>
        <a:srgbClr val="7C3AED"/>
      </a:hlink>
      <a:folHlink>
        <a:srgbClr val="06B6D4"/>
      </a:folHlink>
    </a:clrScheme>
    <a:fontScheme name="dsh-ppt">
      <a:majorFont>
        <a:latin typeface="Segoe UI"/>
        <a:ea typeface="Microsoft YaHei"/>
        <a:cs typeface=""/>
      </a:majorFont>
      <a:minorFont>
        <a:latin typeface="Segoe UI"/>
        <a:ea typeface="Microsoft YaHei"/>
        <a:cs typeface=""/>
      </a:minorFont>
    </a:fontScheme>
    <a:fmtScheme name="dsh-p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dsh-ppt</Application>
  <PresentationFormat>Widescreen</PresentationFormat>
  <Slides>20</Slides>
  <Notes>17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广东工业大学机器人专业优秀毕业生</dc:title>
  <dc:creator>dsh-ppt</dc:creator>
  <cp:lastModifiedBy>dsh-ppt</cp:lastModifiedBy>
</cp:coreProperties>
</file>